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SemiBold"/>
      <p:regular r:id="rId201314"/>
    </p:embeddedFont>
    <p:embeddedFont>
      <p:font typeface="Raleway Bold"/>
      <p:regular r:id="rId201315"/>
    </p:embeddedFont>
    <p:embeddedFont>
      <p:font typeface="Raleway Black"/>
      <p:regular r:id="rId201316"/>
    </p:embeddedFont>
    <p:embeddedFont>
      <p:font typeface="Raleway"/>
      <p:regular r:id="rId201317"/>
    </p:embeddedFont>
    <p:embeddedFont>
      <p:font typeface="Roboto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5008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¿Estamos invirtiendo en contenido con suficiente evidencia?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30549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StreamView Analytics · Análisis estratégico de 32.000 títulos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04665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32.000 títulos. Un problema simple.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511425"/>
            <a:ext cx="3053877" cy="1706662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706787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problema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3115469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es la falta de información. Es convertirla en decisiones accionables.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511425"/>
            <a:ext cx="3053976" cy="1706662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706787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síntoma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3115469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Fragmentación, falta de comparabilidad, incertidumbre en el portafolio.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407098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460246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objetivo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5011142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Transformar el catálogo en evidencia para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priorizar inversiones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 rigor.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Drama domina. Riesgo de saturación.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Fortaleza consolidada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drama representa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43%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películas y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49%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series en el catálogo. Es el género dominante por amplio margen.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concentración tan alta es una fortaleza de marca, pero también expone el portafolio a saturación competitiva y menor diferenciación frente a plataformas rivales.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4348559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4635302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4565848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Oportunidad clara de diversificación hacia géneros complementarios.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6605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Las películas generan 6,7× más interacción observable.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10384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719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77031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Votaciones promedio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4178995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 título en películas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63135" y="2910384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107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63135" y="377031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Votaciones promedio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63135" y="4178995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 título en series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64794" y="2910384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6.7×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8064794" y="377031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Más interacción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4794" y="4178995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Películas vs. series en fuentes disponibles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499645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brecha de interacción visible es sustancial. Las películas concentran la atención del público medida en fuentes públicas, una señal relevante para la priorización de inversiones en producción y adquisición.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42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Idiomas asiáticos: oportunidad del 27%.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2739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Distribución del catálogo por idioma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35299"/>
            <a:ext cx="5203794" cy="37458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32776" y="172739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inglés domina, pero Asia espera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32776" y="2211685"/>
            <a:ext cx="5203794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inglés concentra el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59,6%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del catálogo. Sin embargo, japonés, coreano y chino suman en conjunto aproximadamente el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27%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del total, un bloque regional con alta demanda global y bajo nivel de explotación estratégica.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expansión regional en contenido asiático representa una palanca de crecimiento antes de concentrar nuevas inversiones en idiomas ya saturados.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54609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Cuando hay datos financieros, el ROI es atractivo.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3210024"/>
            <a:ext cx="6296860" cy="2493367"/>
          </a:xfrm>
          <a:prstGeom prst="roundRect">
            <a:avLst>
              <a:gd name="adj" fmla="val 318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7825" y="3216374"/>
            <a:ext cx="3142080" cy="1391543"/>
          </a:xfrm>
          <a:custGeom>
            <a:avLst/>
            <a:gdLst/>
            <a:ahLst/>
            <a:cxnLst/>
            <a:rect l="l" t="t" r="r" b="b"/>
            <a:pathLst>
              <a:path w="3142080" h="1391543">
                <a:moveTo>
                  <a:pt x="66156" y="0"/>
                </a:moveTo>
                <a:lnTo>
                  <a:pt x="3142080" y="0"/>
                </a:lnTo>
                <a:lnTo>
                  <a:pt x="3142080" y="1391543"/>
                </a:lnTo>
                <a:lnTo>
                  <a:pt x="0" y="1391543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6" name="Text 3"/>
          <p:cNvSpPr/>
          <p:nvPr/>
        </p:nvSpPr>
        <p:spPr>
          <a:xfrm>
            <a:off x="856832" y="3405386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Presupuesto promedio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814068"/>
            <a:ext cx="276406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$28,9M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por título con datos disponibles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809905" y="3216374"/>
            <a:ext cx="3142080" cy="1391543"/>
          </a:xfrm>
          <a:custGeom>
            <a:avLst/>
            <a:gdLst/>
            <a:ahLst/>
            <a:cxnLst/>
            <a:rect l="l" t="t" r="r" b="b"/>
            <a:pathLst>
              <a:path w="3142080" h="1391543">
                <a:moveTo>
                  <a:pt x="0" y="0"/>
                </a:moveTo>
                <a:lnTo>
                  <a:pt x="3075924" y="0"/>
                </a:lnTo>
                <a:arcTo hR="66158" wR="66156" stAng="16200000" swAng="5400000"/>
                <a:lnTo>
                  <a:pt x="3142080" y="1391543"/>
                </a:lnTo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9" name="Shape 6"/>
          <p:cNvSpPr/>
          <p:nvPr/>
        </p:nvSpPr>
        <p:spPr>
          <a:xfrm>
            <a:off x="3809905" y="3216374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0" name="Text 7"/>
          <p:cNvSpPr/>
          <p:nvPr/>
        </p:nvSpPr>
        <p:spPr>
          <a:xfrm>
            <a:off x="3998912" y="3405386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Ingresos promedio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3998912" y="3814068"/>
            <a:ext cx="276406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$69,3M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2,4× el presupuesto invertido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7825" y="4607917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1022966"/>
                </a:lnTo>
                <a:arcTo hR="66158" wR="66156" stAng="0" swAng="5400000"/>
                <a:lnTo>
                  <a:pt x="66156" y="1089124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3" name="Shape 10"/>
          <p:cNvSpPr/>
          <p:nvPr/>
        </p:nvSpPr>
        <p:spPr>
          <a:xfrm>
            <a:off x="667825" y="4607917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4" name="Text 11"/>
          <p:cNvSpPr/>
          <p:nvPr/>
        </p:nvSpPr>
        <p:spPr>
          <a:xfrm>
            <a:off x="856832" y="4796929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ROI implícito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56832" y="5205611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139%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sobre los agregados financieros disponibles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108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Pero el 65% de películas no tiene datos financieros.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88480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226486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Riesgo crítico de generalización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749153"/>
            <a:ext cx="5203794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Solo el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30,3%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películas tiene presupuesto registrado. Solo el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35,3%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tiene ingresos disponibles.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Extrapolar el ROI del 139% al catálogo completo sería un error metodológico grave. Las decisiones de inversión basadas en datos parciales amplifican el riesgo.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4643934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FFB3B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4930676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4861223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podemos generalizar el ROI al catálogo completo sin cobertura financiera ampliada.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474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hallazgos a herramienta ejecutiva.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16088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99454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Resumen ejecutivo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403229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KPIs críticos de un vistazo: cobertura, engagement y ROI en una sola vista.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516088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99454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Catálogo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40322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Mix de géneros, idiomas y países con filtros dinámicos para explorar el portafolio.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516088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99454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Finanzas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40322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Budget, revenue y ROI con segmentación por género, región e idioma en tiempo real.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22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Tres acciones inmediatas. Tres meses cada una.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11895"/>
            <a:ext cx="10868745" cy="42878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52247" y="2996897"/>
            <a:ext cx="2162133" cy="29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Fase 1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352247" y="3374748"/>
            <a:ext cx="2162133" cy="470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KPI estándar, dashboard, cobertura financiera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040286" y="3465943"/>
            <a:ext cx="2162133" cy="29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Fase 2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040286" y="3843794"/>
            <a:ext cx="2162133" cy="470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Segmentación regional y modelos de popularidad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59704" y="2996897"/>
            <a:ext cx="2162133" cy="29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Fase 3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759704" y="3374748"/>
            <a:ext cx="2162133" cy="470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Personalización y BI avanzado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61475" y="601235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plan de implementación progresivo que construye capacidad analítica sin interrumpir las operaciones actuales del equipo.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6539"/>
            <a:ext cx="6296860" cy="1744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se trata de tener más contenido. Se trata de invertir mejor.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224" y="2591246"/>
            <a:ext cx="279095" cy="2791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66099" y="2585541"/>
            <a:ext cx="569223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Medir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66099" y="2986087"/>
            <a:ext cx="56922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 KPIs confiables y estandarizados que eliminen la ambigüedad del portafolio.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224" y="3948658"/>
            <a:ext cx="279095" cy="27910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66099" y="3942953"/>
            <a:ext cx="569223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Priorizar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1266099" y="4343499"/>
            <a:ext cx="56922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 evidencia visual que permita decisiones rápidas, comparables y trazables.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224" y="5306070"/>
            <a:ext cx="279095" cy="27910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66099" y="5300365"/>
            <a:ext cx="569223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Optimizar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1266099" y="5700911"/>
            <a:ext cx="56922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Continuamente el portafolio, ajustando la estrategia con datos actualizados.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2026-09-07T10:36:47Z</dcterms:created>
  <dcterms:modified xsi:type="dcterms:W3CDTF">2026-09-07T10:36:47Z</dcterms:modified>
</cp:coreProperties>
</file>